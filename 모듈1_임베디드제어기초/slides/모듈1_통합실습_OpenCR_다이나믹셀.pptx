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presProps.xml" ContentType="application/vnd.openxmlformats-officedocument.presentationml.pres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0.xml" ContentType="application/vnd.openxmlformats-officedocument.presentationml.slide+xml"/>
</ns0: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26151289f9c141f7" /><ns0:Relationship Type="http://schemas.openxmlformats.org/officeDocument/2006/relationships/extended-properties" Target="/docProps/app.xml" Id="R0e92791039d942b9" /><ns0:Relationship Type="http://schemas.openxmlformats.org/officeDocument/2006/relationships/officeDocument" Target="/ppt/presentation.xml" Id="R171cc708017840cb" /></ns0: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afc82d09026f4871"/>
  </ns0:sldMasterIdLst>
  <ns0:sldIdLst>
    <ns0:sldId id="256" ns1:id="Rf2edef61c2d54c5d"/>
    <ns0:sldId id="257" ns1:id="Rb41bb27537f74187"/>
    <ns0:sldId id="258" ns1:id="Rbc2e1f62f4314da5"/>
    <ns0:sldId id="259" ns1:id="R3824ab34872544f8"/>
    <ns0:sldId id="260" ns1:id="R4d36f30965dc4d0b"/>
    <ns0:sldId id="261" ns1:id="R6a6042c8010c4c2f"/>
    <ns0:sldId id="262" ns1:id="Rf07b4ccc66d54517"/>
    <ns0:sldId id="263" ns1:id="R67bb7ad65a3148d6"/>
    <ns0:sldId id="264" ns1:id="R39d682a1dbb1433b"/>
    <ns0:sldId id="265" ns1:id="Rb62b1405f9b04b7c"/>
    <ns0:sldId id="266" ns1:id="Rb5472a3bb46748cd"/>
    <ns0:sldId id="267" ns1:id="R09437bb828de4c5b"/>
    <ns0:sldId id="268" ns1:id="R90c927f0108e41c6"/>
    <ns0:sldId id="269" ns1:id="Rc1d698ca0c77492b"/>
    <ns0:sldId id="270" ns1:id="R09e0068d88704141"/>
    <ns0:sldId id="271" ns1:id="R265672da2beb48f4"/>
    <ns0:sldId id="272" ns1:id="Raa96eadf28384872"/>
    <ns0:sldId id="273" ns1:id="R159860fd232148ca"/>
    <ns0:sldId id="274" ns1:id="Rbcf77eba74474796"/>
    <ns0:sldId id="275" ns1:id="R7d3105e260cd4170"/>
  </ns0:sldIdLst>
  <ns0:sldSz cx="9144000" cy="5143500"/>
  <ns0:notesSz cx="6858000" cy="9144000"/>
</ns0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959c9ac03d4040bb" /><ns0:Relationship Type="http://schemas.openxmlformats.org/officeDocument/2006/relationships/slideMaster" Target="/ppt/slideMasters/slideMaster1.xml" Id="Rafc82d09026f4871" /><ns0:Relationship Type="http://schemas.openxmlformats.org/officeDocument/2006/relationships/presProps" Target="/ppt/presProps.xml" Id="R73b5aaf68e8e44b6" /><ns0:Relationship Type="http://schemas.openxmlformats.org/officeDocument/2006/relationships/tableStyles" Target="/ppt/tableStyles.xml" Id="Re551e5c806374737" /><ns0:Relationship Type="http://schemas.openxmlformats.org/officeDocument/2006/relationships/slide" Target="/ppt/slides/slide1.xml" Id="Rf2edef61c2d54c5d" /><ns0:Relationship Type="http://schemas.openxmlformats.org/officeDocument/2006/relationships/slide" Target="/ppt/slides/slide2.xml" Id="Rb41bb27537f74187" /><ns0:Relationship Type="http://schemas.openxmlformats.org/officeDocument/2006/relationships/slide" Target="/ppt/slides/slide3.xml" Id="Rbc2e1f62f4314da5" /><ns0:Relationship Type="http://schemas.openxmlformats.org/officeDocument/2006/relationships/slide" Target="/ppt/slides/slide4.xml" Id="R3824ab34872544f8" /><ns0:Relationship Type="http://schemas.openxmlformats.org/officeDocument/2006/relationships/slide" Target="/ppt/slides/slide5.xml" Id="R4d36f30965dc4d0b" /><ns0:Relationship Type="http://schemas.openxmlformats.org/officeDocument/2006/relationships/slide" Target="/ppt/slides/slide6.xml" Id="R6a6042c8010c4c2f" /><ns0:Relationship Type="http://schemas.openxmlformats.org/officeDocument/2006/relationships/slide" Target="/ppt/slides/slide7.xml" Id="Rf07b4ccc66d54517" /><ns0:Relationship Type="http://schemas.openxmlformats.org/officeDocument/2006/relationships/slide" Target="/ppt/slides/slide8.xml" Id="R67bb7ad65a3148d6" /><ns0:Relationship Type="http://schemas.openxmlformats.org/officeDocument/2006/relationships/slide" Target="/ppt/slides/slide9.xml" Id="R39d682a1dbb1433b" /><ns0:Relationship Type="http://schemas.openxmlformats.org/officeDocument/2006/relationships/slide" Target="/ppt/slides/slide10.xml" Id="Rb62b1405f9b04b7c" /><ns0:Relationship Type="http://schemas.openxmlformats.org/officeDocument/2006/relationships/slide" Target="/ppt/slides/slide11.xml" Id="Rb5472a3bb46748cd" /><ns0:Relationship Type="http://schemas.openxmlformats.org/officeDocument/2006/relationships/slide" Target="/ppt/slides/slide12.xml" Id="R09437bb828de4c5b" /><ns0:Relationship Type="http://schemas.openxmlformats.org/officeDocument/2006/relationships/slide" Target="/ppt/slides/slide13.xml" Id="R90c927f0108e41c6" /><ns0:Relationship Type="http://schemas.openxmlformats.org/officeDocument/2006/relationships/slide" Target="/ppt/slides/slide14.xml" Id="Rc1d698ca0c77492b" /><ns0:Relationship Type="http://schemas.openxmlformats.org/officeDocument/2006/relationships/slide" Target="/ppt/slides/slide15.xml" Id="R09e0068d88704141" /><ns0:Relationship Type="http://schemas.openxmlformats.org/officeDocument/2006/relationships/slide" Target="/ppt/slides/slide16.xml" Id="R265672da2beb48f4" /><ns0:Relationship Type="http://schemas.openxmlformats.org/officeDocument/2006/relationships/slide" Target="/ppt/slides/slide17.xml" Id="Raa96eadf28384872" /><ns0:Relationship Type="http://schemas.openxmlformats.org/officeDocument/2006/relationships/slide" Target="/ppt/slides/slide18.xml" Id="R159860fd232148ca" /><ns0:Relationship Type="http://schemas.openxmlformats.org/officeDocument/2006/relationships/slide" Target="/ppt/slides/slide19.xml" Id="Rbcf77eba74474796" /><ns0:Relationship Type="http://schemas.openxmlformats.org/officeDocument/2006/relationships/slide" Target="/ppt/slides/slide20.xml" Id="R7d3105e260cd4170" /></ns0:Relationships>
</file>

<file path=ppt/slideLayouts/_rels/slideLayout1.xml.rels><?xml version='1.0' encoding='utf-8'?>
<ns0:Relationships xmlns:ns0="http://schemas.openxmlformats.org/package/2006/relationships"><ns0:Relationship Type="http://schemas.openxmlformats.org/officeDocument/2006/relationships/slideMaster" Target="/ppt/slideMasters/slideMaster1.xml" Id="R2c3d528103054f12" /></ns0: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ns0:Relationships xmlns:ns0="http://schemas.openxmlformats.org/package/2006/relationships"><ns0:Relationship Type="http://schemas.openxmlformats.org/officeDocument/2006/relationships/theme" Target="/ppt/slideMasters/theme/theme2.xml" Id="R96ecd33977ad41a4" /><ns0:Relationship Type="http://schemas.openxmlformats.org/officeDocument/2006/relationships/slideLayout" Target="/ppt/slideLayouts/slideLayout1.xml" Id="Rf3a9b6af00594db8" /></ns0: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9b6af0059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857659b2b4a426d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fad0be933f2482d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9c33ef9cedc4b28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1883a366c9a4276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c8fedda6c364d48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4e36d83058e4070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4702f47621647a3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638fe85294246ef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7ed4dfb995b42dd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1839ad13abe413d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e794479c2d24843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4abfd21e3bc4ae2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7adf32ef0ac45d8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9a13b8475dd43d4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12fcdf1e9a94034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5c6b8ab3ced4d54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cdce41cb5e74e93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e168b306a3b40e3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5b10efc02744aea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48c615efdfb464e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61B29-253C-4DDD-9D96-65118469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BBBB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BBBBBB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62C96-96E8-4222-B465-8126AB9C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OpenCR·다이나믹셀 통합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BAF10-2DC0-4B83-B784-0C3E2597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DDD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DDDDD"/>
                </a:solidFill>
                <a:latin typeface="Malgun Gothic"/>
                <a:ea typeface="Malgun Gothic"/>
                <a:cs typeface="Malgun Gothic"/>
              </a:rPr>
              <a:t>이론 1~4강과 실습 5~8강을 연결하는 4문제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BA2DF-330E-4F21-8C1D-21E84355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6710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DDDD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DDDDDD"/>
                </a:solidFill>
                <a:latin typeface="Malgun Gothic"/>
                <a:ea typeface="Malgun Gothic"/>
                <a:cs typeface="Malgun Gothic"/>
              </a:rPr>
              <a:t>준비된 환경에서 90분 / 개인 답안 / 총 100점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5C471-34BD-4D30-89FE-D46757D6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BBBBB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BBBBB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0300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43076-0537-4794-9A4E-6962C80A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B0B09-052E-41BD-B3B0-071D9DE1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90분 진행표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4D037-0A9E-48D4-AA58-2703D25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1: 목표 입력·움직임 확인  15분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D8508-26F3-4C30-A2F5-6E21C8A8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2: 같은 로그로 오차 해석  20분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8270D-715F-49B0-A56F-99EC700B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3: Kp 두 가지 비교  30분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0FF77-CD8F-4BF0-80FA-D3C89F52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4: 통신 기록 해석 15분 / 제출 정리 10분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A5F5-3FD1-4E91-A629-437D4044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80053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7D05D-B0D9-4BA4-A709-762B1B7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09CB7-6D7E-481F-AEEF-A7055ABA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실습 전 장비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0D2C4-32DC-490F-B9D0-9082617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OpenCR 1.0과 다이나믹셀 1개, 모델에 맞는 전원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9F6EA-92FD-4610-98FE-61F8FC48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TTL / RS-485, 모터 ID, 통신속도를 배포 설정표와 대조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E28C2-1BA2-41C6-9516-CD7CDB1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제공 예제 기준: XM430-W350 / 모델 번호 1020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4819D-2DFC-4952-8FC1-B81CA4B4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다른 모델은 진행자가 확인한 호환 예제를 사용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A7551-4718-422F-A078-F152276B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41584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22CA9-A0BF-436A-A580-7EB99F4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1B4C7-6F7C-4540-B1D7-06C193A6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동작 범위와 정지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1713A-F8EF-40F1-B2F8-C49B3CC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모터를 고정하고 회전 범위를 비워 둡니다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AFB4-4ED7-4009-A1D7-C7F2212D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진행자가 확인한 작은 각도와 낮은 속도 상한을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E47F2-BB74-46E2-AE73-F893C9F7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x 입력으로 정지 / 전원 차단 위치도 먼저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DD56B-EDB8-4197-8B09-D3F4E485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max 금지 / 토크가 켜진 모터를 손으로 되돌리지 않기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3A01F-8A4A-4CBB-AA8D-4B43F8F1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15785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73F03-CCFA-4B89-8D88-02B36FF5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D15D1-20CF-417F-AF4B-933AD05F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OpenCR의 위치 제어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7F1A0-98DB-4429-93E1-5859F2B0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목표각과 현재각의 차이를 OpenCR이 계산합니다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1D8BE-7A7F-4C68-B515-27F06E00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OpenCR은 다이나믹셀에 목표 속도를 보냅니다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EB501-7035-4A7B-BD9D-8796FC2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다이나믹셀 내부 속도 제어도 계속 동작합니다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BF5B2-FC98-4C0A-8ED6-C583F5F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이번에 바꾸는 Kp는 OpenCR의 위치 제어 게인입니다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58622-F0AB-4860-92E6-31E85330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2777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3E2CB-3AC0-4CFD-B797-60617507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7D9CE-79AE-492D-843D-78C2239F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1 · 실행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C94C8-A744-43DC-B160-2524F79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제공된 opencr_position_p 예제와 설정을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67C45-60CA-4C10-89E5-1CCCE5E4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시리얼 모니터 115200 / 줄바꿈 사용 / READY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5C8F7-0E67-4BDE-9063-6CCD6B4F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 0.3 15 30 입력은 진행자 확인 후 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5193-6996-4165-8B62-6DC072F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5~10초 관찰 후 x 정지 / 로그 5행 이상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5889F-854E-468F-909A-3DBEA834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1414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720FC-DB0C-401F-89CC-E3D05D2E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75FE8-D4DB-43F9-924A-539AD25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로그에서 읽을 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CC978-CB70-400C-947E-AA91926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target_deg / position_deg : 목표각 / 현재각 [°]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EC1FC-0354-49A6-B37C-C3CFF64C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error_deg : 위치 오차 [°]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C5028-9DDE-45F8-BE1E-159CC02A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u_deg_s / speed_deg_s : 명령 속도 / 측정 속도 [°/s]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A7C3D-98BC-4355-BF9F-F7E12CBB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t_s : 실행 시작 후 시간 [s]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189C7-1749-4740-81A7-E41F67D8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0226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5F22F-F3B0-4144-B6FC-3AD8A54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D8818-A42F-4EF9-93CC-3921BB42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2 · 세 시점의 오차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75188-2A24-45A2-B7B8-8B859170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5E7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5E77"/>
                </a:solidFill>
                <a:latin typeface="Malgun Gothic"/>
                <a:ea typeface="Malgun Gothic"/>
                <a:cs typeface="Malgun Gothic"/>
              </a:rPr>
              <a:t>e = r − 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83BB7-3188-4DBF-BD3E-024A87B5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실행 A에서 초기·중간·마지막 시점을 선택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C7F1C-5620-4C7C-979D-8818DFB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각 시점의 목표각과 현재각을 적기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29EE-D271-4C1D-92AD-F7B4248D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오차의 크기와 부호를 함께 해석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2BAA7-D859-4306-9610-628B3878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위치 센서와 통신 경로를 한 문장으로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85C04-A372-4EC9-B101-C49B1A49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88220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EF666-7A68-40C9-83F7-9B1CCF28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2061A-B141-43B6-8F5E-F481362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오차 계산 연습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DCED8-F789-4724-9E50-2EFF98C9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가상 데이터입니다. 실제 제출에는 본인 로그 사용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89A7D-B234-495B-9A38-3DAD4428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목표각 30° / 현재각 2°, 22°, 29°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5428E-243D-4C7E-BF49-D8633D71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각 시점의 e와 |e|를 계산하세요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4F5BD4-BF75-420E-909B-72030BEA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현재각이 35°가 되면 보정 방향은 어떻게 될까요?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47CC13-127D-4FBB-8141-EACACC43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505014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FF8FD-359B-4224-9B23-169A829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D9407-54C1-43C2-91B0-E0388DC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측정값이 돌아오는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D84F2-9B91-4673-9532-9EEF433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현재각은 다이나믹셀 내부 위치 센서에서 얻습니다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3D7E7-C75E-4DFC-A357-FA0C14F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OpenCR이 다이나믹셀 통신으로 값을 읽습니다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1F59A-D05A-47FF-95DD-429BE6B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목표값과 측정값을 비교해 다음 명령을 계산합니다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0C7BAB-80EB-4128-8749-471A4A48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통신 실패는 0° 측정값으로 기록하지 않습니다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70A6A-E91D-4356-BA46-1EE457ED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8314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12E49-AE84-45CC-9A83-6EF7984C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6BD77-F6E0-44BD-9F67-EA55F095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3 · 비교할 조건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1A628-999D-4164-AEC9-CD5C9865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실행 A: Kp 0.3 / 실행 B: Kp 0.6  [설정 예시]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3CD99-6358-4243-94C0-8C0A166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목표각·속도 상한·부하·측정 주기는 동일하게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75B82-68CE-474F-B6FB-0414D156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시작 자세와 이동 여유를 맞춘 뒤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0133E-23E9-450D-AA61-D3C93707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각 실행 시작 후 같은 시점의 현재각을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D67D0-5A97-4386-B8C6-614B8616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83052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8B0B3-3415-468A-A390-64B30E47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33DA0-8687-4B23-8D30-09646E45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 게인과 속도 상한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50412-F005-47E4-A842-50CCEF1E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5E7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5E77"/>
                </a:solidFill>
                <a:latin typeface="Malgun Gothic"/>
                <a:ea typeface="Malgun Gothic"/>
                <a:cs typeface="Malgun Gothic"/>
              </a:rPr>
              <a:t>u계산 = Kp ×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4940D-A356-4338-8D1A-0C13115C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설명용 계산: e=30°, 속도 상한 15°/s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8D61D-8A25-4C59-A3D9-1DCC9992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Kp 0.3이면 제한 전 명령은 9°/s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F5CF5-0050-42FE-9D49-570C4C7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Kp 0.6이면 제한 전 명령은 18°/s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8A6C3-93A1-4F21-8915-8DB4B002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상한을 적용하면 두 번째 명령은 15°/s 이내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07F06-89E2-40AA-9CE0-95389B7F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39200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56AD3-5B7F-4F04-A61C-8D9C414A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909FC-DEB8-4CF0-881A-13461BDF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실행 B와 비교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6B8AF-B94F-4CF0-9294-FC4E447E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정지 후 Kp만 바꿔 실행: s 0.6 15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295A3-18F5-4F98-ABD2-790C9EC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같은 시간만큼 관찰하고 x로 정지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5E4BF-A87F-43B9-9C96-FA0E1F50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A·B의 설정, 같은 시각의 현재각, 목표 초과 여부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7A8F8-5406-4123-9FF0-CF2E61B2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차이가 작거나 거의 없어도 관찰한 그대로 설명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36DC0-51A3-4F0D-960A-C3B0EA51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47215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D861B-C347-43EC-BCCF-5A0BCBF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3C828-8553-4BA7-AEE8-A07BEE46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I항과 D항의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61F36-AAA9-430B-AFFC-06D17C31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P: 현재 위치 오차에 반응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26B75-24F8-479F-BA25-129AEAC5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I: 위치 오차가 시간에 걸쳐 쌓인 값에 반응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1C39E-CFE0-4C0D-B7BF-4CECF2E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이 예제 계열의 D: 측정 각속도에 반응해 변화에 제동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AEC77-7869-47BA-BD66-65BB4545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이번 과제는 I·D 역할을 설명하고 P만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2AD24-A7FE-4BF0-95BF-3543C10F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46071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63B98-94AE-4D13-8F4E-D814856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3ED35-B881-430C-8EF6-738639C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1~3 중간 점검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3B619-6568-4549-813F-FEC7BA22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실행 A·B 로그 또는 캡처 2개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397E60-72D4-4638-92C9-CFA53746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1: 설정과 실제 움직임 설명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7B0CE-118D-40D8-8082-60075121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2: 세 시점 오차 표와 피드백 경로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81DFC-8C33-4292-8E5B-8EEE15CD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3: 비교표와 근거 있는 해석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3663D-4405-48A7-8AE8-1280186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06520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D16513-CCC0-43D9-A6A1-D269144A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3FAE3-06C3-4395-ABBF-222FA61F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문제 4 · 제어와 통신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B6798-CD7D-4DC5-8DA9-3ACA87FC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설명용 구성: PC의 ROS2 노드 / Agent / OpenCR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A64A2-4A37-4D2B-815A-53CAAA0A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OpenCR과 다이나믹셀 사이에는 모터 통신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4E938-86DB-422B-8694-93B3D195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PC는 목표를 보내고 현재각을 받아 봅니다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30DBB-39DF-4946-B2B7-9C646830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제공 기록을 해석하므로 새 micro-ROS 설치는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03884-CB5D-44E7-B881-FC6206D5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87530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4D199-EDEB-4C45-9437-D0CFBD3D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C4F9C-D84A-4307-9EAB-0520AEE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설명용 통신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C51C4-3B55-47B2-A966-8172C82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0.0 s  PC 발행: /motor/target = 30.0°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CDF1E-AB8B-455E-B7BF-19349C6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0.1 s / 0.5 s  PC 수신: /motor/state = 2.0° / 12.0°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E97B4-163D-47B0-A040-8C4C261C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1.0 s / 2.0 s  PC 수신: /motor/state = 22.0° / 29.0°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547EB-5C41-425D-A78B-4350877A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가상 기록의 일부 발췌 / 실제 ROS2 실험 결과 아님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3938D-FDB0-4EA9-9111-CC76E50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798915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80093-5DC8-45AD-875B-CF7EBC12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2FA95-A881-4573-A1C5-BD332B91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제어 주기와 상태 발행 주기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3D628-C4E3-4A47-A595-39D88B3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7858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F5E77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F5E77"/>
                </a:solidFill>
                <a:latin typeface="Malgun Gothic"/>
                <a:ea typeface="Malgun Gothic"/>
                <a:cs typeface="Malgun Gothic"/>
              </a:rPr>
              <a:t>100 ms ÷ 10 ms =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73CBA-08AA-4230-81E6-6F3D888C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52700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제어 계산 10 ms : 1초에 100회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8FFFD-5545-49AF-9959-9ED7C1E9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0375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상태 발행 100 ms : 1초에 10회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9EC52-F389-43A7-B16F-EE29AFF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상태 발행 한 주기 동안 제어 계산은 약 몇 회일까요?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42556-B2BF-431C-9991-54C1255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785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설정 주기와 실제 실행 간격은 구분합니다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38C89-054C-4CC8-A0A8-FBDE0F1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92683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A0D3A-94BF-4F05-B266-612933FC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B83EB-7F2C-42F5-8457-A801F110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통신이 끊겼을 때의 정책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83C7-A5C7-4555-93A8-8B08ABD9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OpenCR의 로컬 제어는 계속될 수 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9BB56-474C-4ADE-B063-9B132742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오래된 목표를 계속 따라도 되는지 판단이 필요합니다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D7B3C-E3A8-4704-9D82-1B74854A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예: 정해진 시간 동안 새 명령이 없으면 정지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8CA98-485C-420F-8185-9E2B2967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이번에는 정책을 설명하고 단절 실험은 하지 않습니다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E7DB-63B8-434F-A837-CB31C232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305215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83978-929A-4945-99C5-0E34FBBD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Lv.2 모듈 1 통합 실습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66CAB-995A-459E-9408-6BC9E5E6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제출과 마무리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6B7A6-E85E-442C-8E9C-C1F85721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개인 답안 2쪽 이내 권장 / 문제마다 25점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CD2D8-EC37-4B16-9AC6-2600618E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오차 표, A·B 비교표, 통신 구조도 포함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9D60B-36F5-4807-B9D5-25178F5B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results 폴더에 실제 실행 A·B 로그 또는 캡처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4AF55-424C-4C73-9E10-D0CB4ED6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모델·ID·Kp·목표각·속도 상한·예제 이름 기록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C4932-E7D0-48E6-90DA-62108FA5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625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87393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2026-09-21T04:51:20.8490000Z</dcterms:created>
  <dcterms:modified xsi:type="dcterms:W3CDTF">2026-09-21T04:51:20.8490000Z</dcterms:modified>
</coreProperties>
</file>